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737360"/>
            <a:ext cx="1033272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Does Giving an AI a “Map” of Your Code</a:t>
            </a:r>
          </a:p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Actually Help?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3794760"/>
            <a:ext cx="12191695" cy="54864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4023360"/>
            <a:ext cx="9418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0" i="1">
                <a:solidFill>
                  <a:srgbClr val="94A3B8"/>
                </a:solidFill>
                <a:latin typeface="Calibri"/>
              </a:rPr>
              <a:t>ContextAI + ConnectContext, put to the test with a real AI coding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0" i="0">
                <a:solidFill>
                  <a:srgbClr val="888899"/>
                </a:solidFill>
                <a:latin typeface="Calibri"/>
              </a:rPr>
              <a:t>A hands-on evaluation across 3 connected projects — 48 real questions, 288 AI runs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 i="0">
                <a:solidFill>
                  <a:srgbClr val="1A1A2E"/>
                </a:solidFill>
                <a:latin typeface="Calibri"/>
              </a:rPr>
              <a:t>The everyday problem — and the idea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96112"/>
            <a:ext cx="2011680" cy="50800"/>
          </a:xfrm>
          <a:prstGeom prst="rect">
            <a:avLst/>
          </a:prstGeom>
          <a:solidFill>
            <a:srgbClr val="2C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1">
                <a:solidFill>
                  <a:srgbClr val="666666"/>
                </a:solidFill>
                <a:latin typeface="Calibri"/>
              </a:rPr>
              <a:t>Why understanding a big codebase is hard, and what if the AI had a map first?</a:t>
            </a:r>
          </a:p>
        </p:txBody>
      </p:sp>
      <p:sp>
        <p:nvSpPr>
          <p:cNvPr id="5" name="Rectangle 4"/>
          <p:cNvSpPr/>
          <p:nvPr/>
        </p:nvSpPr>
        <p:spPr>
          <a:xfrm>
            <a:off x="9686240" y="384048"/>
            <a:ext cx="2048255" cy="365760"/>
          </a:xfrm>
          <a:prstGeom prst="rect">
            <a:avLst/>
          </a:prstGeom>
          <a:solidFill>
            <a:srgbClr val="2C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 · THE IDEA</a:t>
            </a:r>
          </a:p>
        </p:txBody>
      </p:sp>
      <p:pic>
        <p:nvPicPr>
          <p:cNvPr id="6" name="Picture 5" descr="search_vs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9121" y="1600200"/>
            <a:ext cx="5803278" cy="3246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14400" y="5074920"/>
            <a:ext cx="10332720" cy="1417320"/>
          </a:xfrm>
          <a:prstGeom prst="rect">
            <a:avLst/>
          </a:prstGeom>
          <a:solidFill>
            <a:srgbClr val="F7F8FA"/>
          </a:solidFill>
          <a:ln w="28575"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1A1A2E"/>
                </a:solidFill>
                <a:latin typeface="Calibri"/>
              </a:rPr>
              <a:t>“Does a real AI coding assistant answer code questions better with a pre-built map of the code — compared to using only its normal tools?”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 i="0">
                <a:solidFill>
                  <a:srgbClr val="1A1A2E"/>
                </a:solidFill>
                <a:latin typeface="Calibri"/>
              </a:rPr>
              <a:t>Three connected projects, one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96112"/>
            <a:ext cx="2011680" cy="50800"/>
          </a:xfrm>
          <a:prstGeom prst="rect">
            <a:avLst/>
          </a:prstGeom>
          <a:solidFill>
            <a:srgbClr val="2C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1">
                <a:solidFill>
                  <a:srgbClr val="666666"/>
                </a:solidFill>
                <a:latin typeface="Calibri"/>
              </a:rPr>
              <a:t>This isn't one repo — it's a small stack, and this deck covers all of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9686240" y="384048"/>
            <a:ext cx="2048255" cy="365760"/>
          </a:xfrm>
          <a:prstGeom prst="rect">
            <a:avLst/>
          </a:prstGeom>
          <a:solidFill>
            <a:srgbClr val="2C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 · THE IDEA</a:t>
            </a:r>
          </a:p>
        </p:txBody>
      </p:sp>
      <p:pic>
        <p:nvPicPr>
          <p:cNvPr id="6" name="Picture 5" descr="three_rep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999" y="1554480"/>
            <a:ext cx="8827521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 i="0">
                <a:solidFill>
                  <a:srgbClr val="1A1A2E"/>
                </a:solidFill>
                <a:latin typeface="Calibri"/>
              </a:rPr>
              <a:t>Project 1: ContextAI — the engine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96112"/>
            <a:ext cx="2011680" cy="50800"/>
          </a:xfrm>
          <a:prstGeom prst="rect">
            <a:avLst/>
          </a:prstGeom>
          <a:solidFill>
            <a:srgbClr val="2C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360359" y="384048"/>
            <a:ext cx="3374136" cy="365760"/>
          </a:xfrm>
          <a:prstGeom prst="rect">
            <a:avLst/>
          </a:prstGeom>
          <a:solidFill>
            <a:srgbClr val="2C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 · THE THREE PROJECTS</a:t>
            </a:r>
          </a:p>
        </p:txBody>
      </p:sp>
      <p:pic>
        <p:nvPicPr>
          <p:cNvPr id="5" name="Picture 4" descr="graph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86006"/>
            <a:ext cx="7315200" cy="40918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63840" y="1691640"/>
            <a:ext cx="4023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50" b="1">
                <a:solidFill>
                  <a:srgbClr val="2CA02C"/>
                </a:solidFill>
                <a:latin typeface="Calibri"/>
              </a:rPr>
              <a:t>▸  </a:t>
            </a:r>
            <a:r>
              <a:rPr sz="1450">
                <a:solidFill>
                  <a:srgbClr val="333333"/>
                </a:solidFill>
                <a:latin typeface="Calibri"/>
              </a:rPr>
              <a:t>Each function/class becomes a rich node: its code, inputs/outputs, error handling, complexity, even test coverage &amp; git history.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50" b="1">
                <a:solidFill>
                  <a:srgbClr val="2CA02C"/>
                </a:solidFill>
                <a:latin typeface="Calibri"/>
              </a:rPr>
              <a:t>▸  </a:t>
            </a:r>
            <a:r>
              <a:rPr sz="1450">
                <a:solidFill>
                  <a:srgbClr val="333333"/>
                </a:solidFill>
                <a:latin typeface="Calibri"/>
              </a:rPr>
              <a:t>Each connection becomes a typed edge (calls, imports, reads/writes data, and more), with how critical and how likely-to-fail it is.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50" b="1">
                <a:solidFill>
                  <a:srgbClr val="2CA02C"/>
                </a:solidFill>
                <a:latin typeface="Calibri"/>
              </a:rPr>
              <a:t>▸  </a:t>
            </a:r>
            <a:r>
              <a:rPr sz="1450">
                <a:solidFill>
                  <a:srgbClr val="333333"/>
                </a:solidFill>
                <a:latin typeface="Calibri"/>
              </a:rPr>
              <a:t>Alpha stage, but backed by 150+ automated tests.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 i="0">
                <a:solidFill>
                  <a:srgbClr val="1A1A2E"/>
                </a:solidFill>
                <a:latin typeface="Calibri"/>
              </a:rPr>
              <a:t>Project 2: ConnectContext — the bridge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96112"/>
            <a:ext cx="201168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360359" y="384048"/>
            <a:ext cx="3374136" cy="3657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 · THE THREE PROJECTS</a:t>
            </a:r>
          </a:p>
        </p:txBody>
      </p:sp>
      <p:pic>
        <p:nvPicPr>
          <p:cNvPr id="5" name="Picture 4" descr="tool_ti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263" y="1417320"/>
            <a:ext cx="8990994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 i="0">
                <a:solidFill>
                  <a:srgbClr val="1A1A2E"/>
                </a:solidFill>
                <a:latin typeface="Calibri"/>
              </a:rPr>
              <a:t>Project 3: this evaluation — what we built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96112"/>
            <a:ext cx="2011680" cy="50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360359" y="384048"/>
            <a:ext cx="3374136" cy="3657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 · THE THREE PROJECTS</a:t>
            </a:r>
          </a:p>
        </p:txBody>
      </p:sp>
      <p:pic>
        <p:nvPicPr>
          <p:cNvPr id="5" name="Picture 4" descr="two_mo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868" y="1417320"/>
            <a:ext cx="6538904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160020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500" b="1">
                <a:solidFill>
                  <a:srgbClr val="2CA02C"/>
                </a:solidFill>
                <a:latin typeface="Calibri"/>
              </a:rPr>
              <a:t>▸  </a:t>
            </a:r>
            <a:r>
              <a:rPr sz="1500">
                <a:solidFill>
                  <a:srgbClr val="333333"/>
                </a:solidFill>
                <a:latin typeface="Calibri"/>
              </a:rPr>
              <a:t>4 real open-source projects (Flask, Click, HTTPX, Rich), 9k–26k lines each.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500" b="1">
                <a:solidFill>
                  <a:srgbClr val="2CA02C"/>
                </a:solidFill>
                <a:latin typeface="Calibri"/>
              </a:rPr>
              <a:t>▸  </a:t>
            </a:r>
            <a:r>
              <a:rPr sz="1500">
                <a:solidFill>
                  <a:srgbClr val="333333"/>
                </a:solidFill>
                <a:latin typeface="Calibri"/>
              </a:rPr>
              <a:t>48 realistic questions (“who calls this,” “what breaks if I change this,” and more).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500" b="1">
                <a:solidFill>
                  <a:srgbClr val="2CA02C"/>
                </a:solidFill>
                <a:latin typeface="Calibri"/>
              </a:rPr>
              <a:t>▸  </a:t>
            </a:r>
            <a:r>
              <a:rPr sz="1500">
                <a:solidFill>
                  <a:srgbClr val="333333"/>
                </a:solidFill>
                <a:latin typeface="Calibri"/>
              </a:rPr>
              <a:t>A real AI coding agent (OpenAI's Codex) — not a toy stand-in.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500" b="1">
                <a:solidFill>
                  <a:srgbClr val="2CA02C"/>
                </a:solidFill>
                <a:latin typeface="Calibri"/>
              </a:rPr>
              <a:t>▸  </a:t>
            </a:r>
            <a:r>
              <a:rPr sz="1500">
                <a:solidFill>
                  <a:srgbClr val="333333"/>
                </a:solidFill>
                <a:latin typeface="Calibri"/>
              </a:rPr>
              <a:t>ConnectContext plugged in exactly the way a real developer would.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257800"/>
            <a:ext cx="6675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0" i="1">
                <a:solidFill>
                  <a:srgbClr val="666666"/>
                </a:solidFill>
                <a:latin typeface="Calibri"/>
              </a:rPr>
              <a:t>Same questions. Same AI. Same rules. The map is the only thing that's different.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 i="0">
                <a:solidFill>
                  <a:srgbClr val="1A1A2E"/>
                </a:solidFill>
                <a:latin typeface="Calibri"/>
              </a:rPr>
              <a:t>Wiring it up — and two real hiccups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96112"/>
            <a:ext cx="201168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18828" y="384048"/>
            <a:ext cx="1915667" cy="3657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 · TESTING</a:t>
            </a:r>
          </a:p>
        </p:txBody>
      </p:sp>
      <p:pic>
        <p:nvPicPr>
          <p:cNvPr id="5" name="Picture 4" descr="mcp_conn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5236"/>
            <a:ext cx="6857999" cy="38360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06640" y="1508760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D97706"/>
                </a:solidFill>
                <a:latin typeface="Calibri"/>
              </a:rPr>
              <a:t>🐛 Hidden naming clash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920240"/>
            <a:ext cx="44805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333333"/>
                </a:solidFill>
                <a:latin typeface="Calibri"/>
              </a:rPr>
              <a:t>Flask ships a file with the same name as a core Python module, which silently broke the map-builder when run inside it. Fixed by keeping it in its own safe folder.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3429000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D97706"/>
                </a:solidFill>
                <a:latin typeface="Calibri"/>
              </a:rPr>
              <a:t>⏱️ Permissions limitation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3840480"/>
            <a:ext cx="44805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333333"/>
                </a:solidFill>
                <a:latin typeface="Calibri"/>
              </a:rPr>
              <a:t>Run unattended, the AI tool wouldn't let the map get used at all — it waited for a permission click that could never come. Fixed with a setting, applied identically to both modes.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 i="0">
                <a:solidFill>
                  <a:srgbClr val="1A1A2E"/>
                </a:solidFill>
                <a:latin typeface="Calibri"/>
              </a:rPr>
              <a:t>How we ran it, and how we graded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96112"/>
            <a:ext cx="2011680" cy="50800"/>
          </a:xfrm>
          <a:prstGeom prst="rect">
            <a:avLst/>
          </a:prstGeom>
          <a:solidFill>
            <a:srgbClr val="2C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18828" y="384048"/>
            <a:ext cx="1915667" cy="365760"/>
          </a:xfrm>
          <a:prstGeom prst="rect">
            <a:avLst/>
          </a:prstGeom>
          <a:solidFill>
            <a:srgbClr val="2C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 · TESTING</a:t>
            </a:r>
          </a:p>
        </p:txBody>
      </p:sp>
      <p:pic>
        <p:nvPicPr>
          <p:cNvPr id="5" name="Picture 4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1275" y="1371600"/>
            <a:ext cx="4658969" cy="2606040"/>
          </a:xfrm>
          <a:prstGeom prst="rect">
            <a:avLst/>
          </a:prstGeom>
        </p:spPr>
      </p:pic>
      <p:pic>
        <p:nvPicPr>
          <p:cNvPr id="6" name="Picture 5" descr="gra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1275" y="3977639"/>
            <a:ext cx="4658969" cy="2606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 i="0">
                <a:solidFill>
                  <a:srgbClr val="1A1A2E"/>
                </a:solidFill>
                <a:latin typeface="Calibri"/>
              </a:rPr>
              <a:t>The results: roughly a coin flip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96112"/>
            <a:ext cx="2011680" cy="50800"/>
          </a:xfrm>
          <a:prstGeom prst="rect">
            <a:avLst/>
          </a:prstGeom>
          <a:solidFill>
            <a:srgbClr val="2C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18828" y="384048"/>
            <a:ext cx="1915667" cy="365760"/>
          </a:xfrm>
          <a:prstGeom prst="rect">
            <a:avLst/>
          </a:prstGeom>
          <a:solidFill>
            <a:srgbClr val="2C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 · RESULTS</a:t>
            </a:r>
          </a:p>
        </p:txBody>
      </p:sp>
      <p:pic>
        <p:nvPicPr>
          <p:cNvPr id="5" name="Picture 4" descr="chart_head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058787"/>
            <a:ext cx="5852160" cy="3654825"/>
          </a:xfrm>
          <a:prstGeom prst="rect">
            <a:avLst/>
          </a:prstGeom>
        </p:spPr>
      </p:pic>
      <p:pic>
        <p:nvPicPr>
          <p:cNvPr id="6" name="Picture 5" descr="chart_by_proj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356106"/>
            <a:ext cx="5760720" cy="30601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 i="0">
                <a:solidFill>
                  <a:srgbClr val="1A1A2E"/>
                </a:solidFill>
                <a:latin typeface="Calibri"/>
              </a:rPr>
              <a:t>The map wasn't free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96112"/>
            <a:ext cx="2011680" cy="50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18828" y="384048"/>
            <a:ext cx="1915667" cy="3657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 · RESULTS</a:t>
            </a:r>
          </a:p>
        </p:txBody>
      </p:sp>
      <p:pic>
        <p:nvPicPr>
          <p:cNvPr id="5" name="Picture 4" descr="chart_c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4403" y="1463040"/>
            <a:ext cx="8712714" cy="411479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05840" y="5806440"/>
            <a:ext cx="10149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0" i="1">
                <a:solidFill>
                  <a:srgbClr val="666666"/>
                </a:solidFill>
                <a:latin typeface="Calibri"/>
              </a:rPr>
              <a:t>Same number of steps, but ~70% more material “read” per question when the map was available.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 i="0">
                <a:solidFill>
                  <a:srgbClr val="1A1A2E"/>
                </a:solidFill>
                <a:latin typeface="Calibri"/>
              </a:rPr>
              <a:t>Why didn't it help more? Two real reasons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96112"/>
            <a:ext cx="2011680" cy="50800"/>
          </a:xfrm>
          <a:prstGeom prst="rect">
            <a:avLst/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349179" y="384048"/>
            <a:ext cx="1385316" cy="365760"/>
          </a:xfrm>
          <a:prstGeom prst="rect">
            <a:avLst/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 · WHY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2563EB"/>
                </a:solidFill>
                <a:latin typeface="Calibri"/>
              </a:rPr>
              <a:t>1. The referee itself was sometimes wrong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74519"/>
            <a:ext cx="54864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333333"/>
                </a:solidFill>
                <a:latin typeface="Calibri"/>
              </a:rPr>
              <a:t>We hand-checked one “loss”: the map-assisted answer was actually correct (verified against the real source code) — the AI judge simply made a mistake. The true gap is probably smaller than the headline number suggests.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4630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D97706"/>
                </a:solidFill>
                <a:latin typeface="Calibri"/>
              </a:rPr>
              <a:t>2. Trusting the map too much</a:t>
            </a:r>
          </a:p>
        </p:txBody>
      </p:sp>
      <p:pic>
        <p:nvPicPr>
          <p:cNvPr id="8" name="Picture 7" descr="chart_recall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6715" y="1874519"/>
            <a:ext cx="4920250" cy="28803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2920" y="5029200"/>
            <a:ext cx="11247120" cy="1417320"/>
          </a:xfrm>
          <a:prstGeom prst="rect">
            <a:avLst/>
          </a:prstGeom>
          <a:solidFill>
            <a:srgbClr val="F3ECFB"/>
          </a:solidFill>
          <a:ln w="28575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1A1A2E"/>
                </a:solidFill>
                <a:latin typeface="Calibri"/>
              </a:rPr>
              <a:t>Bottom line: the extra map didn't clearly make the AI better at understanding code — it used the tool eagerly, but that didn't translate into better answers.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A personal note, 4 months later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170432"/>
            <a:ext cx="2011680" cy="50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 i="0">
                <a:solidFill>
                  <a:srgbClr val="DDDDE5"/>
                </a:solidFill>
                <a:latin typeface="Calibri"/>
              </a:rPr>
              <a:t>When this problem first came up about 4 months ago, it felt urgent: AI models couldn't hold a big codebase “in their head,” so a pre-built map felt essential.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17520"/>
            <a:ext cx="105156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 i="0">
                <a:solidFill>
                  <a:srgbClr val="DDDDE5"/>
                </a:solidFill>
                <a:latin typeface="Calibri"/>
              </a:rPr>
              <a:t>In just those few months, AI models have gotten dramatically better at holding and reasoning over much more code at once, and simply gotten smarter overall. That original problem — the one this tool was built to solve — has largely shrunk on its own, just from the base AI models improving.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892040"/>
            <a:ext cx="10515600" cy="1371600"/>
          </a:xfrm>
          <a:prstGeom prst="rect">
            <a:avLst/>
          </a:prstGeom>
          <a:solidFill>
            <a:srgbClr val="22332A"/>
          </a:solidFill>
          <a:ln w="28575"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A02C"/>
                </a:solidFill>
                <a:latin typeface="Calibri"/>
              </a:rPr>
              <a:t>Our results fit that story: a modern, capable AI agent with just its ordinary tools already does a solid job — the extra map no longer clears as high a bar as it once would have.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 i="0">
                <a:solidFill>
                  <a:srgbClr val="1A1A2E"/>
                </a:solidFill>
                <a:latin typeface="Calibri"/>
              </a:rPr>
              <a:t>What this means going forward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96112"/>
            <a:ext cx="2011680" cy="50800"/>
          </a:xfrm>
          <a:prstGeom prst="rect">
            <a:avLst/>
          </a:prstGeom>
          <a:solidFill>
            <a:srgbClr val="2C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421063" y="384048"/>
            <a:ext cx="2313432" cy="365760"/>
          </a:xfrm>
          <a:prstGeom prst="rect">
            <a:avLst/>
          </a:prstGeom>
          <a:solidFill>
            <a:srgbClr val="2C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6 · REFLECTION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2471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700" b="1">
                <a:solidFill>
                  <a:srgbClr val="2CA02C"/>
                </a:solidFill>
                <a:latin typeface="Calibri"/>
              </a:rPr>
              <a:t>▸  </a:t>
            </a:r>
            <a:r>
              <a:rPr sz="1700">
                <a:solidFill>
                  <a:srgbClr val="333333"/>
                </a:solidFill>
                <a:latin typeface="Calibri"/>
              </a:rPr>
              <a:t>Tools like this still have a place — but the bar for “worth adding” keeps rising as base AI models improve.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700" b="1">
                <a:solidFill>
                  <a:srgbClr val="2CA02C"/>
                </a:solidFill>
                <a:latin typeface="Calibri"/>
              </a:rPr>
              <a:t>▸  </a:t>
            </a:r>
            <a:r>
              <a:rPr sz="1700">
                <a:solidFill>
                  <a:srgbClr val="333333"/>
                </a:solidFill>
                <a:latin typeface="Calibri"/>
              </a:rPr>
              <a:t>The AI should be encouraged to double-check the map's answer, not just trust it outright — especially for “list everything” style questions.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700" b="1">
                <a:solidFill>
                  <a:srgbClr val="2CA02C"/>
                </a:solidFill>
                <a:latin typeface="Calibri"/>
              </a:rPr>
              <a:t>▸  </a:t>
            </a:r>
            <a:r>
              <a:rPr sz="1700">
                <a:solidFill>
                  <a:srgbClr val="333333"/>
                </a:solidFill>
                <a:latin typeface="Calibri"/>
              </a:rPr>
              <a:t>The token/reading cost of extra tools is real and should be weighed against the (currently unclear) benefit.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700" b="1">
                <a:solidFill>
                  <a:srgbClr val="2CA02C"/>
                </a:solidFill>
                <a:latin typeface="Calibri"/>
              </a:rPr>
              <a:t>▸  </a:t>
            </a:r>
            <a:r>
              <a:rPr sz="1700">
                <a:solidFill>
                  <a:srgbClr val="333333"/>
                </a:solidFill>
                <a:latin typeface="Calibri"/>
              </a:rPr>
              <a:t>Worth re-running periodically — as models keep improving, the answer to “does this tool help” can keep changing.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532120"/>
            <a:ext cx="11247120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576072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>
                <a:solidFill>
                  <a:srgbClr val="1A1A2E"/>
                </a:solidFill>
                <a:latin typeface="Calibri"/>
              </a:rPr>
              <a:t>Thank you — full write-up, charts &amp; raw data: eval/report/REPORT.md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
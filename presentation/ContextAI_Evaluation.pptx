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737360"/>
            <a:ext cx="103327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Does Giving an AI a “Map” of Your Code</a:t>
            </a:r>
          </a:p>
          <a:p>
            <a:pPr algn="ctr">
              <a:lnSpc>
                <a:spcPct val="115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Actually Help?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3794760"/>
            <a:ext cx="12191695" cy="54864"/>
          </a:xfrm>
          <a:prstGeom prst="rect">
            <a:avLst/>
          </a:prstGeom>
          <a:solidFill>
            <a:srgbClr val="2C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4023360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0" i="1">
                <a:solidFill>
                  <a:srgbClr val="94A3B8"/>
                </a:solidFill>
                <a:latin typeface="Calibri"/>
              </a:rPr>
              <a:t>Putting ContextAI's code-graph tool to the test with a real AI coding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943600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888899"/>
                </a:solidFill>
                <a:latin typeface="Calibri"/>
              </a:rPr>
              <a:t>A hands-on evaluation — 48 real questions, 4 real codebases, 288 AI runs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828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0" b="1" i="0">
                <a:solidFill>
                  <a:srgbClr val="2CA02C"/>
                </a:solidFill>
                <a:latin typeface="Calibr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17520" y="2514600"/>
            <a:ext cx="8229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3429000"/>
            <a:ext cx="8229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94A3B8"/>
                </a:solidFill>
                <a:latin typeface="Calibri"/>
              </a:rPr>
              <a:t>What problem were we trying to solve?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A1A2E"/>
                </a:solidFill>
                <a:latin typeface="Calibri"/>
              </a:rPr>
              <a:t>The everyday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2011680" cy="5080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 i="1">
                <a:solidFill>
                  <a:srgbClr val="666666"/>
                </a:solidFill>
                <a:latin typeface="Calibri"/>
              </a:rPr>
              <a:t>Why understanding a big codebase is hard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852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50" b="1">
                <a:solidFill>
                  <a:srgbClr val="2CA02C"/>
                </a:solidFill>
                <a:latin typeface="Calibri"/>
              </a:rPr>
              <a:t>▸  </a:t>
            </a:r>
            <a:r>
              <a:rPr sz="1850">
                <a:solidFill>
                  <a:srgbClr val="333333"/>
                </a:solidFill>
                <a:latin typeface="Calibri"/>
              </a:rPr>
              <a:t>Real software projects are huge — tens of thousands of lines, spread across hundreds of files.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50" b="1">
                <a:solidFill>
                  <a:srgbClr val="2CA02C"/>
                </a:solidFill>
                <a:latin typeface="Calibri"/>
              </a:rPr>
              <a:t>▸  </a:t>
            </a:r>
            <a:r>
              <a:rPr sz="1850">
                <a:solidFill>
                  <a:srgbClr val="333333"/>
                </a:solidFill>
                <a:latin typeface="Calibri"/>
              </a:rPr>
              <a:t>When you ask an AI assistant a question like “who calls this function?”, it usually has to search for text and open files one at a time — like a very fast game of Ctrl+F.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50" b="1">
                <a:solidFill>
                  <a:srgbClr val="2CA02C"/>
                </a:solidFill>
                <a:latin typeface="Calibri"/>
              </a:rPr>
              <a:t>▸  </a:t>
            </a:r>
            <a:r>
              <a:rPr sz="1850">
                <a:solidFill>
                  <a:srgbClr val="333333"/>
                </a:solidFill>
                <a:latin typeface="Calibri"/>
              </a:rPr>
              <a:t>That works, but it's slow, and it's easy to miss something hiding in a file that never got opened.</a:t>
            </a:r>
          </a:p>
        </p:txBody>
      </p:sp>
      <p:pic>
        <p:nvPicPr>
          <p:cNvPr id="6" name="Picture 5" descr="search_v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545500"/>
            <a:ext cx="5120640" cy="28642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AAAAAA"/>
                </a:solidFill>
                <a:latin typeface="Calibri"/>
              </a:rPr>
              <a:t>Part 1 — The Idea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A1A2E"/>
                </a:solidFill>
                <a:latin typeface="Calibri"/>
              </a:rPr>
              <a:t>The idea: give the AI a map first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2011680" cy="5080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7899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A1A2E"/>
                </a:solidFill>
                <a:latin typeface="Calibri"/>
              </a:rPr>
              <a:t>What if, instead of re-reading the whole codebase every time, the AI could look up a pre-built “map” that already shows which functions connect to which?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49039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50" b="0" i="0">
                <a:solidFill>
                  <a:srgbClr val="333333"/>
                </a:solidFill>
                <a:latin typeface="Calibri"/>
              </a:rPr>
              <a:t>That's what ContextAI's code-graph tool promises to do.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850" b="0" i="0">
                <a:solidFill>
                  <a:srgbClr val="333333"/>
                </a:solidFill>
                <a:latin typeface="Calibri"/>
              </a:rPr>
              <a:t>This is exactly the kind of tool people believed, a few months ago, that AI coding assistants would badly need — codebases are big, and AI “attention” was limited. We built a rigorous, real-world test to find out if it actually helps.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AAAAAA"/>
                </a:solidFill>
                <a:latin typeface="Calibri"/>
              </a:rPr>
              <a:t>Part 1 — The Idea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A1A2E"/>
                </a:solidFill>
                <a:latin typeface="Calibri"/>
              </a:rPr>
              <a:t>What is a “code graph,” really?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2011680" cy="5080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1">
                <a:solidFill>
                  <a:srgbClr val="1A1A2E"/>
                </a:solidFill>
                <a:latin typeface="Calibri"/>
              </a:rPr>
              <a:t>Think of it like a subway map for your code. Instead of a list of station names, it shows every station (function) and every line connecting them (which function calls which) — so you can trace a route instantly.</a:t>
            </a:r>
          </a:p>
        </p:txBody>
      </p:sp>
      <p:pic>
        <p:nvPicPr>
          <p:cNvPr id="5" name="Picture 4" descr="graph_capabili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3044" y="2880360"/>
            <a:ext cx="6375432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AAAAAA"/>
                </a:solidFill>
                <a:latin typeface="Calibri"/>
              </a:rPr>
              <a:t>Part 1 — The Idea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A1A2E"/>
                </a:solidFill>
                <a:latin typeface="Calibri"/>
              </a:rPr>
              <a:t>The question we set out to answer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2011680" cy="5080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8720" y="2286000"/>
            <a:ext cx="9784080" cy="2377440"/>
          </a:xfrm>
          <a:prstGeom prst="rect">
            <a:avLst/>
          </a:prstGeom>
          <a:solidFill>
            <a:srgbClr val="F7F8FA"/>
          </a:solidFill>
          <a:ln w="31750"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500" b="1">
                <a:solidFill>
                  <a:srgbClr val="1A1A2E"/>
                </a:solidFill>
                <a:latin typeface="Calibri"/>
              </a:rPr>
              <a:t>“Does a real AI coding assistant answer code questions better when it also has ContextAI's map — compared to using only its normal tools?”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0"/>
            <a:ext cx="9784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1">
                <a:solidFill>
                  <a:srgbClr val="666666"/>
                </a:solidFill>
                <a:latin typeface="Calibri"/>
              </a:rPr>
              <a:t>We answered this with real runs of a real AI agent — not a guess.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AAAAAA"/>
                </a:solidFill>
                <a:latin typeface="Calibri"/>
              </a:rPr>
              <a:t>Part 1 — The Idea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828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0" b="1" i="0">
                <a:solidFill>
                  <a:srgbClr val="2CA02C"/>
                </a:solidFill>
                <a:latin typeface="Calibr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17520" y="2514600"/>
            <a:ext cx="8229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What We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3429000"/>
            <a:ext cx="8229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94A3B8"/>
                </a:solidFill>
                <a:latin typeface="Calibri"/>
              </a:rPr>
              <a:t>Reproducing a real, fair test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A1A2E"/>
                </a:solidFill>
                <a:latin typeface="Calibri"/>
              </a:rPr>
              <a:t>What we actually built &amp; reproduced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2011680" cy="5080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950" b="1">
                <a:solidFill>
                  <a:srgbClr val="2CA02C"/>
                </a:solidFill>
                <a:latin typeface="Calibri"/>
              </a:rPr>
              <a:t>▸  </a:t>
            </a:r>
            <a:r>
              <a:rPr sz="1950">
                <a:solidFill>
                  <a:srgbClr val="333333"/>
                </a:solidFill>
                <a:latin typeface="Calibri"/>
              </a:rPr>
              <a:t>4 real, well-known open-source projects (Flask, Click, HTTPX, Rich) — the same code real developers use every day, 9,000 to 26,000 lines each.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950" b="1">
                <a:solidFill>
                  <a:srgbClr val="2CA02C"/>
                </a:solidFill>
                <a:latin typeface="Calibri"/>
              </a:rPr>
              <a:t>▸  </a:t>
            </a:r>
            <a:r>
              <a:rPr sz="1950">
                <a:solidFill>
                  <a:srgbClr val="333333"/>
                </a:solidFill>
                <a:latin typeface="Calibri"/>
              </a:rPr>
              <a:t>48 hand-written, realistic questions about that code (“who calls this,” “what breaks if I change this,” “trace this request end-to-end,” and more).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950" b="1">
                <a:solidFill>
                  <a:srgbClr val="2CA02C"/>
                </a:solidFill>
                <a:latin typeface="Calibri"/>
              </a:rPr>
              <a:t>▸  </a:t>
            </a:r>
            <a:r>
              <a:rPr sz="1950">
                <a:solidFill>
                  <a:srgbClr val="333333"/>
                </a:solidFill>
                <a:latin typeface="Calibri"/>
              </a:rPr>
              <a:t>A real AI coding agent (OpenAI's Codex) to answer them — not a toy stand-in.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950" b="1">
                <a:solidFill>
                  <a:srgbClr val="2CA02C"/>
                </a:solidFill>
                <a:latin typeface="Calibri"/>
              </a:rPr>
              <a:t>▸  </a:t>
            </a:r>
            <a:r>
              <a:rPr sz="1950">
                <a:solidFill>
                  <a:srgbClr val="333333"/>
                </a:solidFill>
                <a:latin typeface="Calibri"/>
              </a:rPr>
              <a:t>The actual ContextAI code-map tool, connected the same way a real developer would connect it — as a plug-in tool for the AI, not hard-wired into our test scripts.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950" b="1">
                <a:solidFill>
                  <a:srgbClr val="2CA02C"/>
                </a:solidFill>
                <a:latin typeface="Calibri"/>
              </a:rPr>
              <a:t>▸  </a:t>
            </a:r>
            <a:r>
              <a:rPr sz="1950">
                <a:solidFill>
                  <a:srgbClr val="333333"/>
                </a:solidFill>
                <a:latin typeface="Calibri"/>
              </a:rPr>
              <a:t>An automatic scoring system, so results are measured, not eyeballed.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AAAAAA"/>
                </a:solidFill>
                <a:latin typeface="Calibri"/>
              </a:rPr>
              <a:t>Part 2 — What We Built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A1A2E"/>
                </a:solidFill>
                <a:latin typeface="Calibri"/>
              </a:rPr>
              <a:t>Two modes, one fair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2011680" cy="5080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wo_m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0472" y="1691640"/>
            <a:ext cx="8500576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AAAAAA"/>
                </a:solidFill>
                <a:latin typeface="Calibri"/>
              </a:rPr>
              <a:t>Part 2 — What We Built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A1A2E"/>
                </a:solidFill>
                <a:latin typeface="Calibri"/>
              </a:rPr>
              <a:t>How we connected the map to the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2011680" cy="5080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cp_conn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0472" y="1691640"/>
            <a:ext cx="8500576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AAAAAA"/>
                </a:solidFill>
                <a:latin typeface="Calibri"/>
              </a:rPr>
              <a:t>Part 2 — What We Built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A1A2E"/>
                </a:solidFill>
                <a:latin typeface="Calibri"/>
              </a:rPr>
              <a:t>Two real hiccups along the way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2011680" cy="508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D97706"/>
                </a:solidFill>
                <a:latin typeface="Calibri"/>
              </a:rPr>
              <a:t>🐛  A hidden naming clash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521208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333333"/>
                </a:solidFill>
                <a:latin typeface="Calibri"/>
              </a:rPr>
              <a:t>One of the test projects (Flask) happens to have a file named the same as a core Python building block.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333333"/>
                </a:solidFill>
                <a:latin typeface="Calibri"/>
              </a:rPr>
              <a:t>That silently confused the map-building tool and crashed it — a subtle bug that only shows up on that one project.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333333"/>
                </a:solidFill>
                <a:latin typeface="Calibri"/>
              </a:rPr>
              <a:t>We tracked it down and fixed it by keeping the map-builder in its own safe folder, away from the project it's mapping.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7373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D97706"/>
                </a:solidFill>
                <a:latin typeface="Calibri"/>
              </a:rPr>
              <a:t>⏱️  A permissions limitation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286000"/>
            <a:ext cx="521208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333333"/>
                </a:solidFill>
                <a:latin typeface="Calibri"/>
              </a:rPr>
              <a:t>When run unattended (no human watching), the AI tool we used wouldn't let the map get used at all — it kept waiting for a permission click that could never come.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333333"/>
                </a:solidFill>
                <a:latin typeface="Calibri"/>
              </a:rPr>
              <a:t>We found the setting to safely allow it to run unattended, and applied the exact same setting to both modes — so the comparison stayed fair.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AAAAAA"/>
                </a:solidFill>
                <a:latin typeface="Calibri"/>
              </a:rPr>
              <a:t>Part 2 — What We Built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828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0" b="1" i="0">
                <a:solidFill>
                  <a:srgbClr val="2CA02C"/>
                </a:solidFill>
                <a:latin typeface="Calibr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17520" y="2514600"/>
            <a:ext cx="8229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3429000"/>
            <a:ext cx="8229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94A3B8"/>
                </a:solidFill>
                <a:latin typeface="Calibri"/>
              </a:rPr>
              <a:t>How we ran and graded 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A1A2E"/>
                </a:solidFill>
                <a:latin typeface="Calibri"/>
              </a:rPr>
              <a:t>How the test was run,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2011680" cy="5080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0472" y="1691640"/>
            <a:ext cx="8500576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AAAAAA"/>
                </a:solidFill>
                <a:latin typeface="Calibri"/>
              </a:rPr>
              <a:t>Part 3 — Testing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A1A2E"/>
                </a:solidFill>
                <a:latin typeface="Calibri"/>
              </a:rPr>
              <a:t>How we graded the answers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2011680" cy="5080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ra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0472" y="1691640"/>
            <a:ext cx="8500576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AAAAAA"/>
                </a:solidFill>
                <a:latin typeface="Calibri"/>
              </a:rPr>
              <a:t>Part 3 — Testing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828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0" b="1" i="0">
                <a:solidFill>
                  <a:srgbClr val="2CA02C"/>
                </a:solidFill>
                <a:latin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17520" y="2514600"/>
            <a:ext cx="8229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3429000"/>
            <a:ext cx="8229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94A3B8"/>
                </a:solidFill>
                <a:latin typeface="Calibri"/>
              </a:rPr>
              <a:t>What actually happened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A1A2E"/>
                </a:solidFill>
                <a:latin typeface="Calibri"/>
              </a:rPr>
              <a:t>The headline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2011680" cy="5080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art_head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07587"/>
            <a:ext cx="6949440" cy="4340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2103120"/>
            <a:ext cx="3931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A1A2E"/>
                </a:solidFill>
                <a:latin typeface="Calibri"/>
              </a:rPr>
              <a:t>Roughly a coin flip.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2926080"/>
            <a:ext cx="3931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50" b="1">
                <a:solidFill>
                  <a:srgbClr val="2CA02C"/>
                </a:solidFill>
                <a:latin typeface="Calibri"/>
              </a:rPr>
              <a:t>▸  </a:t>
            </a:r>
            <a:r>
              <a:rPr sz="1550">
                <a:solidFill>
                  <a:srgbClr val="333333"/>
                </a:solidFill>
                <a:latin typeface="Calibri"/>
              </a:rPr>
              <a:t>No clear overall winner.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50" b="1">
                <a:solidFill>
                  <a:srgbClr val="2CA02C"/>
                </a:solidFill>
                <a:latin typeface="Calibri"/>
              </a:rPr>
              <a:t>▸  </a:t>
            </a:r>
            <a:r>
              <a:rPr sz="1550">
                <a:solidFill>
                  <a:srgbClr val="333333"/>
                </a:solidFill>
                <a:latin typeface="Calibri"/>
              </a:rPr>
              <a:t>The map-assisted answers were preferred slightly less often than the plain answers.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50" b="1">
                <a:solidFill>
                  <a:srgbClr val="2CA02C"/>
                </a:solidFill>
                <a:latin typeface="Calibri"/>
              </a:rPr>
              <a:t>▸  </a:t>
            </a:r>
            <a:r>
              <a:rPr sz="1550">
                <a:solidFill>
                  <a:srgbClr val="333333"/>
                </a:solidFill>
                <a:latin typeface="Calibri"/>
              </a:rPr>
              <a:t>288 total AI runs. Zero crashes.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AAAAAA"/>
                </a:solidFill>
                <a:latin typeface="Calibri"/>
              </a:rPr>
              <a:t>Part 4 — Results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A1A2E"/>
                </a:solidFill>
                <a:latin typeface="Calibri"/>
              </a:rPr>
              <a:t>Not one project favored the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2011680" cy="5080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art_by_pro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362" y="1600200"/>
            <a:ext cx="8778795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AAAAAA"/>
                </a:solidFill>
                <a:latin typeface="Calibri"/>
              </a:rPr>
              <a:t>Part 4 — Results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A1A2E"/>
                </a:solidFill>
                <a:latin typeface="Calibri"/>
              </a:rPr>
              <a:t>The map wasn't free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2011680" cy="508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art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595" y="1600200"/>
            <a:ext cx="8906330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0" i="1">
                <a:solidFill>
                  <a:srgbClr val="666666"/>
                </a:solidFill>
                <a:latin typeface="Calibri"/>
              </a:rPr>
              <a:t>Same number of steps, but the AI had to “read” about 70% more material per question when the map was available.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AAAAAA"/>
                </a:solidFill>
                <a:latin typeface="Calibri"/>
              </a:rPr>
              <a:t>Part 4 — Results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828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0" b="1" i="0">
                <a:solidFill>
                  <a:srgbClr val="2CA02C"/>
                </a:solidFill>
                <a:latin typeface="Calibri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17520" y="2514600"/>
            <a:ext cx="8229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3429000"/>
            <a:ext cx="8229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94A3B8"/>
                </a:solidFill>
                <a:latin typeface="Calibri"/>
              </a:rPr>
              <a:t>Why the results look this way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A1A2E"/>
                </a:solidFill>
                <a:latin typeface="Calibri"/>
              </a:rPr>
              <a:t>Why didn't it help more? Reason #1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201168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2563EB"/>
                </a:solidFill>
                <a:latin typeface="Calibri"/>
              </a:rPr>
              <a:t>Sometimes, the referee itself got it wrong.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7899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333333"/>
                </a:solidFill>
                <a:latin typeface="Calibri"/>
              </a:rPr>
              <a:t>We double-checked one “loss” by hand: the map-assisted answer said a certain piece of memory was “shared per-thread” — and the AI judge marked this wrong.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333333"/>
                </a:solidFill>
                <a:latin typeface="Calibri"/>
              </a:rPr>
              <a:t>We went and read the actual source code ourselves. The map-assisted answer was correct. The judge made the mistake, not the AI being tested.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333333"/>
                </a:solidFill>
                <a:latin typeface="Calibri"/>
              </a:rPr>
              <a:t>This tells us the true gap between the two modes is probably even smaller than our headline number suggests — some of the “losses” aren't real losses.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AAAAAA"/>
                </a:solidFill>
                <a:latin typeface="Calibri"/>
              </a:rPr>
              <a:t>Part 5 — Why the Results Look This Way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A1A2E"/>
                </a:solidFill>
                <a:latin typeface="Calibri"/>
              </a:rPr>
              <a:t>Why didn't it help more? Reason #2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2011680" cy="508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art_recall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59877"/>
            <a:ext cx="6766560" cy="39612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9520" y="1920240"/>
            <a:ext cx="4114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D97706"/>
                </a:solidFill>
                <a:latin typeface="Calibri"/>
              </a:rPr>
              <a:t>Trusting the map</a:t>
            </a:r>
          </a:p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D97706"/>
                </a:solidFill>
                <a:latin typeface="Calibri"/>
              </a:rPr>
              <a:t>too much.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2926080"/>
            <a:ext cx="41148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 i="0">
                <a:solidFill>
                  <a:srgbClr val="333333"/>
                </a:solidFill>
                <a:latin typeface="Calibri"/>
              </a:rPr>
              <a:t>The map is honest about gaps in itself — it even flags things it couldn't fully resolve.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550" b="0" i="0">
                <a:solidFill>
                  <a:srgbClr val="333333"/>
                </a:solidFill>
                <a:latin typeface="Calibri"/>
              </a:rPr>
              <a:t>But when the AI trusted the map's answer as “complete” instead of double-checking, it sometimes missed real connections that a plain text search would have caught.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AAAAAA"/>
                </a:solidFill>
                <a:latin typeface="Calibri"/>
              </a:rPr>
              <a:t>Part 5 — Why the Results Look This Way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A1A2E"/>
                </a:solidFill>
                <a:latin typeface="Calibri"/>
              </a:rPr>
              <a:t>Bottom line, in one sentence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2011680" cy="5080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286000"/>
            <a:ext cx="10515600" cy="2468880"/>
          </a:xfrm>
          <a:prstGeom prst="rect">
            <a:avLst/>
          </a:prstGeom>
          <a:solidFill>
            <a:srgbClr val="EEF6EE"/>
          </a:solidFill>
          <a:ln w="31750"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1A1A2E"/>
                </a:solidFill>
                <a:latin typeface="Calibri"/>
              </a:rPr>
              <a:t>Giving today's AI coding agent an extra “code map” tool didn't clearly make it better at understanding code — it used the tool eagerly, but that didn't translate into better answers.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AAAAAA"/>
                </a:solidFill>
                <a:latin typeface="Calibri"/>
              </a:rPr>
              <a:t>Part 5 — Why the Results Look This Way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828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0" b="1" i="0">
                <a:solidFill>
                  <a:srgbClr val="2CA02C"/>
                </a:solidFill>
                <a:latin typeface="Calibri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17520" y="2514600"/>
            <a:ext cx="8229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Reflection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3429000"/>
            <a:ext cx="8229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94A3B8"/>
                </a:solidFill>
                <a:latin typeface="Calibri"/>
              </a:rPr>
              <a:t>Four months later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A personal note, 4 months later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80160"/>
            <a:ext cx="2011680" cy="508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DDDDE5"/>
                </a:solidFill>
                <a:latin typeface="Calibri"/>
              </a:rPr>
              <a:t>When this problem first came up about 4 months ago, it felt urgent: AI models couldn't hold a big codebase “in their head,” so a pre-built map felt essential.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4612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DDDDE5"/>
                </a:solidFill>
                <a:latin typeface="Calibri"/>
              </a:rPr>
              <a:t>In just those few months, AI models have gotten dramatically better at holding and reasoning over much more code at once, and simply gotten smarter overall. That original problem — the one this tool was built to solve — has largely shrunk on its own, just from the base AI models improving.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5780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CA02C"/>
                </a:solidFill>
                <a:latin typeface="Calibri"/>
              </a:rPr>
              <a:t>Our results fit that story: a modern, capable AI agent with just its ordinary tools already does a solid job — the extra map no longer clears as high a bar as it once would have.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AAAAAA"/>
                </a:solidFill>
                <a:latin typeface="Calibri"/>
              </a:rPr>
              <a:t>Part 6 — Reflection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A1A2E"/>
                </a:solidFill>
                <a:latin typeface="Calibri"/>
              </a:rPr>
              <a:t>What this means going forward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2011680" cy="5080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50" b="1">
                <a:solidFill>
                  <a:srgbClr val="2CA02C"/>
                </a:solidFill>
                <a:latin typeface="Calibri"/>
              </a:rPr>
              <a:t>▸  </a:t>
            </a:r>
            <a:r>
              <a:rPr sz="1950">
                <a:solidFill>
                  <a:srgbClr val="333333"/>
                </a:solidFill>
                <a:latin typeface="Calibri"/>
              </a:rPr>
              <a:t>Tools like this still have a place — but the bar for “worth adding” keeps rising as base AI models improve.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50" b="1">
                <a:solidFill>
                  <a:srgbClr val="2CA02C"/>
                </a:solidFill>
                <a:latin typeface="Calibri"/>
              </a:rPr>
              <a:t>▸  </a:t>
            </a:r>
            <a:r>
              <a:rPr sz="1950">
                <a:solidFill>
                  <a:srgbClr val="333333"/>
                </a:solidFill>
                <a:latin typeface="Calibri"/>
              </a:rPr>
              <a:t>If a tool like this is used, the AI should be encouraged to double-check the map's answer, not just trust it outright — especially for “list everything” style questions.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50" b="1">
                <a:solidFill>
                  <a:srgbClr val="2CA02C"/>
                </a:solidFill>
                <a:latin typeface="Calibri"/>
              </a:rPr>
              <a:t>▸  </a:t>
            </a:r>
            <a:r>
              <a:rPr sz="1950">
                <a:solidFill>
                  <a:srgbClr val="333333"/>
                </a:solidFill>
                <a:latin typeface="Calibri"/>
              </a:rPr>
              <a:t>The token/reading cost of using extra tools is real and should be weighed against the (currently unclear) benefit.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50" b="1">
                <a:solidFill>
                  <a:srgbClr val="2CA02C"/>
                </a:solidFill>
                <a:latin typeface="Calibri"/>
              </a:rPr>
              <a:t>▸  </a:t>
            </a:r>
            <a:r>
              <a:rPr sz="1950">
                <a:solidFill>
                  <a:srgbClr val="333333"/>
                </a:solidFill>
                <a:latin typeface="Calibri"/>
              </a:rPr>
              <a:t>This kind of test is worth re-running periodically — as models keep improving, the answer to “does this tool help” can keep changing.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AAAAAA"/>
                </a:solidFill>
                <a:latin typeface="Calibri"/>
              </a:rPr>
              <a:t>Part 6 — Reflection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1">
                <a:solidFill>
                  <a:srgbClr val="94A3B8"/>
                </a:solidFill>
                <a:latin typeface="Calibri"/>
              </a:rPr>
              <a:t>Full write-up, charts, and raw data: eval/report/REPORT.md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377440"/>
            <a:ext cx="2103120" cy="54864"/>
          </a:xfrm>
          <a:prstGeom prst="rect">
            <a:avLst/>
          </a:prstGeom>
          <a:solidFill>
            <a:srgbClr val="2C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